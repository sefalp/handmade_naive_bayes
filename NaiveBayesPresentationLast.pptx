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70" r:id="rId4"/>
    <p:sldId id="271" r:id="rId5"/>
    <p:sldId id="272" r:id="rId6"/>
    <p:sldId id="273" r:id="rId7"/>
    <p:sldId id="258" r:id="rId8"/>
    <p:sldId id="260" r:id="rId9"/>
    <p:sldId id="274" r:id="rId10"/>
    <p:sldId id="264" r:id="rId11"/>
    <p:sldId id="275" r:id="rId12"/>
    <p:sldId id="276" r:id="rId13"/>
    <p:sldId id="268" r:id="rId14"/>
    <p:sldId id="263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508FB-0D43-465C-9FB8-8DF12F148E69}" type="datetimeFigureOut">
              <a:rPr lang="tr-TR" smtClean="0"/>
              <a:t>27.05.2020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23DDA1-3F1A-45AC-892C-7B1131267B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4314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3DDA1-3F1A-45AC-892C-7B1131267BC6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4088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8AE5A1-AABF-49A8-A54A-264F0ACFA42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tr-TR"/>
              <a:t>Asıl başlık stili için tıklatın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114894C-1E77-4647-BDF6-E68F44F2BF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B9BC778-11DD-4096-89FD-93487E672EE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918D0F-6B23-4CC7-A60F-3AF010E4CF05}" type="datetime1">
              <a:rPr lang="tr-TR"/>
              <a:pPr lvl="0"/>
              <a:t>27.05.2020</a:t>
            </a:fld>
            <a:endParaRPr lang="tr-TR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C642F39E-425F-4D67-B3FF-8D538D2B37B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A5295E2-12CB-4608-8AF6-02914D0A78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78F27D-D20B-4EDA-898E-D4B179247D99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62974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30FED7-6872-47F7-A99F-ACD1D85EBB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tr-TR"/>
              <a:t>Asıl başlık stili için tıklatın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4C5E0B-4A75-4921-A14B-31F93E414B6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E874393-BCA4-4C29-8C02-830D1505B00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334421-1AA7-4BE5-9A56-459F316A4C66}" type="datetime1">
              <a:rPr lang="tr-TR"/>
              <a:pPr lvl="0"/>
              <a:t>27.05.2020</a:t>
            </a:fld>
            <a:endParaRPr lang="tr-TR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9A55F6C3-5B34-4C80-87D0-8BBF80A82F6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2EA83A7-557A-44E6-B583-133075DF59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CCD32F-679D-4F94-838C-8F241F43D4F7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39526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A805A1-BEEE-41F4-A0A7-46A8B7C42B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tr-TR"/>
              <a:t>Asıl başlık stili için tıklatın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81889C8-1AFD-499D-B7EA-1CB9ACCE2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E256561-0939-404F-8307-FCDD04CE793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E267B7-7425-42E0-8AFF-75476000F303}" type="datetime1">
              <a:rPr lang="tr-TR"/>
              <a:pPr lvl="0"/>
              <a:t>27.05.2020</a:t>
            </a:fld>
            <a:endParaRPr lang="tr-TR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66B8C7FA-18CD-488A-B07D-3D05D00BDE3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673A0BD-72E9-4B77-BAD8-2CC4AA2D4B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70FDBE1-01E0-4CC6-8766-CA93AA04163F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0948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34BC10-C51E-4BC1-9EE3-FC9B868997F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tr-TR"/>
              <a:t>Asıl başlık stili için tıklatın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250AEC-906A-454C-A0B6-791EBFE08A4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1AA55F4-A310-4F89-8605-A89C9DD95968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4DF4D6A-83D8-4F97-A7D5-CDD9096994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FABDEB-C25E-4913-B042-E3693D95DBEB}" type="datetime1">
              <a:rPr lang="tr-TR"/>
              <a:pPr lvl="0"/>
              <a:t>27.05.2020</a:t>
            </a:fld>
            <a:endParaRPr lang="tr-TR"/>
          </a:p>
        </p:txBody>
      </p:sp>
      <p:sp>
        <p:nvSpPr>
          <p:cNvPr id="6" name="Altbilgi Yer Tutucusu 5">
            <a:extLst>
              <a:ext uri="{FF2B5EF4-FFF2-40B4-BE49-F238E27FC236}">
                <a16:creationId xmlns:a16="http://schemas.microsoft.com/office/drawing/2014/main" id="{890B92D9-2EAE-4242-8621-BB5351D7AB8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5E167A8-9468-4359-A622-4C6E8E214B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192CCA-A885-4229-95D7-AE076AD3788B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0156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B5CA58-4F41-4E0B-B727-E9CC83BA45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tr-TR"/>
              <a:t>Asıl başlık stili için tıklatın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2D91B13-974F-485C-A20F-74DD004858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B40EC81-F482-4BB2-BF0D-26842A86BAC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AF5C617-DEB6-4223-8F7C-D41671E0DE6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ABB19EA-C2AD-425F-B298-B0065CD15D5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5669AB4-DFB8-46F1-8CDC-26FBE9E765F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7DE24E-3F4C-472C-A93E-4CEEEBBED74E}" type="datetime1">
              <a:rPr lang="tr-TR"/>
              <a:pPr lvl="0"/>
              <a:t>27.05.2020</a:t>
            </a:fld>
            <a:endParaRPr lang="tr-TR"/>
          </a:p>
        </p:txBody>
      </p:sp>
      <p:sp>
        <p:nvSpPr>
          <p:cNvPr id="8" name="Altbilgi Yer Tutucusu 7">
            <a:extLst>
              <a:ext uri="{FF2B5EF4-FFF2-40B4-BE49-F238E27FC236}">
                <a16:creationId xmlns:a16="http://schemas.microsoft.com/office/drawing/2014/main" id="{42E6F720-7EE0-48D2-9B6C-32D83FABDDC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D44A2479-1022-4C9B-B3DA-24820CB1414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F2393E-7B1A-40E1-8342-8B3383572D2C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9033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13734A3-0241-40C5-86AB-E3703B55949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tr-TR"/>
              <a:t>Asıl başlık stili için tıklatın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4AA1BD6-BF65-4164-824B-6F5107EC0D4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983315A-6A59-491E-AD1D-438478BAA5D8}" type="datetime1">
              <a:rPr lang="tr-TR"/>
              <a:pPr lvl="0"/>
              <a:t>27.05.2020</a:t>
            </a:fld>
            <a:endParaRPr lang="tr-TR"/>
          </a:p>
        </p:txBody>
      </p:sp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A4DAF01E-A24E-4AFF-AF0F-0D8D55CBC23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0862E3A-DCE7-4A36-8334-4DA07F7289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12A4FE-F546-4F0E-BE3A-A9817B127763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221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3D2E1DE-5A60-4857-96B2-F6C891133DA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807ADC-2EA0-4496-A16E-318E461D2B89}" type="datetime1">
              <a:rPr lang="tr-TR"/>
              <a:pPr lvl="0"/>
              <a:t>27.05.2020</a:t>
            </a:fld>
            <a:endParaRPr lang="tr-TR"/>
          </a:p>
        </p:txBody>
      </p:sp>
      <p:sp>
        <p:nvSpPr>
          <p:cNvPr id="3" name="Altbilgi Yer Tutucusu 2">
            <a:extLst>
              <a:ext uri="{FF2B5EF4-FFF2-40B4-BE49-F238E27FC236}">
                <a16:creationId xmlns:a16="http://schemas.microsoft.com/office/drawing/2014/main" id="{D4D7F66F-8F18-448A-848B-E2516FF2583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C237247-07F4-484A-96B3-F8CBA5CC2BB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E9A579-EA7D-4125-AB2E-2194DEB2865E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2984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C94711-3A12-4E20-BC58-62F7246278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tr-TR"/>
              <a:t>Asıl başlık stili için tıklatın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E4EB241-91D4-4843-BBB4-E3B6067A95F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8CCD88C-6AAA-4529-B0BF-1DA540C0F7F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8714552-3416-46BE-B24A-C3AFE78DDD6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5EB5FA4-DA93-4228-B695-EB3F75718AE9}" type="datetime1">
              <a:rPr lang="tr-TR"/>
              <a:pPr lvl="0"/>
              <a:t>27.05.2020</a:t>
            </a:fld>
            <a:endParaRPr lang="tr-TR"/>
          </a:p>
        </p:txBody>
      </p:sp>
      <p:sp>
        <p:nvSpPr>
          <p:cNvPr id="6" name="Altbilgi Yer Tutucusu 5">
            <a:extLst>
              <a:ext uri="{FF2B5EF4-FFF2-40B4-BE49-F238E27FC236}">
                <a16:creationId xmlns:a16="http://schemas.microsoft.com/office/drawing/2014/main" id="{31F363B1-3FDA-410C-86C2-51EE1CD7A7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92B60DB-D902-4971-B6B6-FCC429808DE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4E3B51-7430-4791-9155-4E0BBE25AB38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7333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B884A4-1B81-4829-97E1-3E8394544C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tr-TR"/>
              <a:t>Asıl başlık stili için tıklatın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45F9373-B0B7-43EF-85FF-AEF797A1EB75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78540A1-6298-4DD2-94D0-A8D782D7FF7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95F1A84-C6C4-45AC-9737-D7823D490A3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57515A-1266-4C65-B61C-1CF9954BA045}" type="datetime1">
              <a:rPr lang="tr-TR"/>
              <a:pPr lvl="0"/>
              <a:t>27.05.2020</a:t>
            </a:fld>
            <a:endParaRPr lang="tr-TR"/>
          </a:p>
        </p:txBody>
      </p:sp>
      <p:sp>
        <p:nvSpPr>
          <p:cNvPr id="6" name="Altbilgi Yer Tutucusu 5">
            <a:extLst>
              <a:ext uri="{FF2B5EF4-FFF2-40B4-BE49-F238E27FC236}">
                <a16:creationId xmlns:a16="http://schemas.microsoft.com/office/drawing/2014/main" id="{4DE00BAB-1DA5-4987-8031-725018BC36F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046B85D-B029-49AF-B1F0-1AAC64F1B0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8F5C14-837E-49D3-BFF1-70558F8E47A7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1890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F41ED0-54C7-446F-902E-FDBADB2925E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CEC2F0D-07BA-474F-8497-024AE84629E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C37A0C3-3AC1-49B2-8B18-1B22F49E0EF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A3BD3B5-7558-41A2-8F98-8B524C38DB5E}" type="datetime1">
              <a:rPr lang="tr-TR"/>
              <a:pPr lvl="0"/>
              <a:t>27.05.2020</a:t>
            </a:fld>
            <a:endParaRPr lang="tr-TR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87EA5EC5-9B6E-4898-B3A1-4BBBF41A9FA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8336EED-60B1-411D-9335-8754354499B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2C7851F-EB23-4AF1-A888-30321DD33D90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052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AED0049-1A21-4659-BA64-511F538F83E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86B43EC-0EE0-410A-A13B-404D6C9AAA5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A5F9A8A-550C-495C-AAB1-5CF6A5FF6A5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41CFB9-2335-4057-B95B-37D9060A1EB5}" type="datetime1">
              <a:rPr lang="tr-TR"/>
              <a:pPr lvl="0"/>
              <a:t>27.05.2020</a:t>
            </a:fld>
            <a:endParaRPr lang="tr-TR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7A322993-CAA4-4283-9DE7-897CE22EB7E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CED436C-8D93-450B-8437-C7C535AE500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A8EC96-AD6C-4CBD-B800-D53973F4DEF9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4609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82149A38-A692-4EDC-840E-3B70ADAAD1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tr-TR"/>
              <a:t>Asıl başlık stili için tıklatın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B5BF4AC-5F40-4979-A4B2-E6D2AC6503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1FBCEF0-AE4A-494C-8350-F04D49FBD5E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tr-T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A622081E-44C2-457F-B59A-F475F45557EB}" type="datetime1">
              <a:rPr lang="tr-TR"/>
              <a:pPr lvl="0"/>
              <a:t>27.05.2020</a:t>
            </a:fld>
            <a:endParaRPr lang="tr-TR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2D0E813C-0E76-49B0-81AE-4F239EF6D66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tr-T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046842B-7EEA-4C39-AEDA-83FD4A7545F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tr-T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004CA71C-2B2D-46DD-9650-28A2FF3ED039}" type="slidenum"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tr-TR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tr-T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tr-TR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tr-T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tr-T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azyprogrammer.me/bayes-classifier-and-naive-bayes-tutorial-using/" TargetMode="External"/><Relationship Id="rId2" Type="http://schemas.openxmlformats.org/officeDocument/2006/relationships/hyperlink" Target="https://towardsdatascience.com/naive-bayes-classifier-81d512f50a7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ovalisresearch.com/blog/exploring-naive-bayes-classifier-maybe-not-naive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96006F-69F2-4FD0-B2DE-43E84B80F6E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767898"/>
            <a:ext cx="9144000" cy="2387598"/>
          </a:xfrm>
        </p:spPr>
        <p:txBody>
          <a:bodyPr>
            <a:normAutofit/>
          </a:bodyPr>
          <a:lstStyle/>
          <a:p>
            <a:pPr lvl="0"/>
            <a:r>
              <a:rPr lang="tr-TR" sz="7200" dirty="0">
                <a:latin typeface="Bernard MT Condensed" panose="02050806060905020404" pitchFamily="18" charset="0"/>
                <a:cs typeface="Calibri Light"/>
              </a:rPr>
              <a:t>News </a:t>
            </a:r>
            <a:r>
              <a:rPr lang="tr-TR" sz="7200" dirty="0" err="1">
                <a:latin typeface="Bernard MT Condensed" panose="02050806060905020404" pitchFamily="18" charset="0"/>
                <a:cs typeface="Calibri Light"/>
              </a:rPr>
              <a:t>Detection</a:t>
            </a:r>
            <a:br>
              <a:rPr lang="tr-TR" sz="7200" dirty="0">
                <a:latin typeface="Bernard MT Condensed" panose="02050806060905020404" pitchFamily="18" charset="0"/>
                <a:cs typeface="Calibri Light"/>
              </a:rPr>
            </a:br>
            <a:r>
              <a:rPr lang="tr-TR" sz="7200" dirty="0" err="1">
                <a:latin typeface="Bernard MT Condensed" panose="02050806060905020404" pitchFamily="18" charset="0"/>
                <a:cs typeface="Calibri Light"/>
              </a:rPr>
              <a:t>Fake</a:t>
            </a:r>
            <a:r>
              <a:rPr lang="tr-TR" sz="7200" dirty="0">
                <a:latin typeface="Bernard MT Condensed" panose="02050806060905020404" pitchFamily="18" charset="0"/>
                <a:cs typeface="Calibri Light"/>
              </a:rPr>
              <a:t> </a:t>
            </a:r>
            <a:r>
              <a:rPr lang="tr-TR" sz="7200" dirty="0" err="1">
                <a:latin typeface="Bernard MT Condensed" panose="02050806060905020404" pitchFamily="18" charset="0"/>
                <a:cs typeface="Calibri Light"/>
              </a:rPr>
              <a:t>or</a:t>
            </a:r>
            <a:r>
              <a:rPr lang="tr-TR" sz="7200" dirty="0">
                <a:latin typeface="Bernard MT Condensed" panose="02050806060905020404" pitchFamily="18" charset="0"/>
                <a:cs typeface="Calibri Light"/>
              </a:rPr>
              <a:t> Real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11A4001-34D2-41C4-94E7-ACB25C328B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921125"/>
            <a:ext cx="9144000" cy="1655758"/>
          </a:xfrm>
        </p:spPr>
        <p:txBody>
          <a:bodyPr/>
          <a:lstStyle/>
          <a:p>
            <a:pPr lvl="0"/>
            <a:endParaRPr lang="tr-TR" dirty="0">
              <a:cs typeface="Calibri"/>
            </a:endParaRPr>
          </a:p>
          <a:p>
            <a:pPr lvl="0"/>
            <a:r>
              <a:rPr lang="tr-TR" dirty="0">
                <a:latin typeface="Berlin Sans FB" panose="020E0602020502020306" pitchFamily="34" charset="0"/>
                <a:cs typeface="Calibri"/>
              </a:rPr>
              <a:t>Sefa Alp </a:t>
            </a:r>
            <a:endParaRPr lang="tr-TR" dirty="0">
              <a:latin typeface="Berlin Sans FB" panose="020E0602020502020306" pitchFamily="34" charset="0"/>
            </a:endParaRPr>
          </a:p>
          <a:p>
            <a:pPr lvl="0"/>
            <a:r>
              <a:rPr lang="tr-TR" dirty="0">
                <a:latin typeface="Berlin Sans FB" panose="020E0602020502020306" pitchFamily="34" charset="0"/>
                <a:cs typeface="Calibri"/>
              </a:rPr>
              <a:t>041502017</a:t>
            </a:r>
          </a:p>
        </p:txBody>
      </p:sp>
      <p:pic>
        <p:nvPicPr>
          <p:cNvPr id="7" name="Resim 6" descr="kişi, takım, adam, kravat içeren bir resim&#10;&#10;Açıklama otomatik olarak oluşturuldu">
            <a:extLst>
              <a:ext uri="{FF2B5EF4-FFF2-40B4-BE49-F238E27FC236}">
                <a16:creationId xmlns:a16="http://schemas.microsoft.com/office/drawing/2014/main" id="{D8C9285C-9E51-4AAF-A398-2CD8D3AED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303" y="3921125"/>
            <a:ext cx="2979658" cy="1986097"/>
          </a:xfrm>
          <a:prstGeom prst="rect">
            <a:avLst/>
          </a:prstGeom>
        </p:spPr>
      </p:pic>
      <p:pic>
        <p:nvPicPr>
          <p:cNvPr id="9" name="Resim 8" descr="kişi, adam, takım, kravat içeren bir resim&#10;&#10;Açıklama otomatik olarak oluşturuldu">
            <a:extLst>
              <a:ext uri="{FF2B5EF4-FFF2-40B4-BE49-F238E27FC236}">
                <a16:creationId xmlns:a16="http://schemas.microsoft.com/office/drawing/2014/main" id="{6EA3407B-B3F0-4136-96B3-C7FEDBB41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5041" y="3921125"/>
            <a:ext cx="3334458" cy="19860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4C129C-F141-4B31-83DE-17B4ADE2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>
                <a:latin typeface="Dosis Medium" pitchFamily="2" charset="-94"/>
              </a:rPr>
              <a:t>What</a:t>
            </a:r>
            <a:r>
              <a:rPr lang="tr-TR" dirty="0">
                <a:latin typeface="Dosis Medium" pitchFamily="2" charset="-94"/>
              </a:rPr>
              <a:t> is </a:t>
            </a:r>
            <a:r>
              <a:rPr lang="tr-TR" dirty="0" err="1">
                <a:latin typeface="Dosis Medium" pitchFamily="2" charset="-94"/>
              </a:rPr>
              <a:t>the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purpose</a:t>
            </a:r>
            <a:r>
              <a:rPr lang="tr-TR" dirty="0">
                <a:latin typeface="Dosis Medium" pitchFamily="2" charset="-94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652E00A-D87A-4586-BEC4-BEFB89211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>
                <a:latin typeface="Dosis Medium" pitchFamily="2" charset="-94"/>
              </a:rPr>
              <a:t>There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are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many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social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media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account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that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reveals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news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every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day</a:t>
            </a:r>
            <a:r>
              <a:rPr lang="tr-TR" dirty="0">
                <a:latin typeface="Dosis Medium" pitchFamily="2" charset="-94"/>
              </a:rPr>
              <a:t>. </a:t>
            </a:r>
            <a:r>
              <a:rPr lang="tr-TR" dirty="0" err="1">
                <a:latin typeface="Dosis Medium" pitchFamily="2" charset="-94"/>
              </a:rPr>
              <a:t>Many</a:t>
            </a:r>
            <a:r>
              <a:rPr lang="tr-TR" dirty="0">
                <a:latin typeface="Dosis Medium" pitchFamily="2" charset="-94"/>
              </a:rPr>
              <a:t> of </a:t>
            </a:r>
            <a:r>
              <a:rPr lang="tr-TR" dirty="0" err="1">
                <a:latin typeface="Dosis Medium" pitchFamily="2" charset="-94"/>
              </a:rPr>
              <a:t>them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are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comes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from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unreliable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sources</a:t>
            </a:r>
            <a:r>
              <a:rPr lang="tr-TR" dirty="0">
                <a:latin typeface="Dosis Medium" pitchFamily="2" charset="-94"/>
              </a:rPr>
              <a:t>.</a:t>
            </a:r>
          </a:p>
          <a:p>
            <a:endParaRPr lang="tr-TR" dirty="0">
              <a:latin typeface="Dosis Medium" pitchFamily="2" charset="-94"/>
            </a:endParaRPr>
          </a:p>
          <a:p>
            <a:r>
              <a:rPr lang="tr-TR" dirty="0" err="1">
                <a:latin typeface="Dosis Medium" pitchFamily="2" charset="-94"/>
              </a:rPr>
              <a:t>In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this</a:t>
            </a:r>
            <a:r>
              <a:rPr lang="tr-TR" dirty="0">
                <a:latin typeface="Dosis Medium" pitchFamily="2" charset="-94"/>
              </a:rPr>
              <a:t> Project I </a:t>
            </a:r>
            <a:r>
              <a:rPr lang="tr-TR" dirty="0" err="1">
                <a:latin typeface="Dosis Medium" pitchFamily="2" charset="-94"/>
              </a:rPr>
              <a:t>wanted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to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create</a:t>
            </a:r>
            <a:r>
              <a:rPr lang="tr-TR" dirty="0">
                <a:latin typeface="Dosis Medium" pitchFamily="2" charset="-94"/>
              </a:rPr>
              <a:t> an AI program </a:t>
            </a:r>
            <a:r>
              <a:rPr lang="tr-TR" dirty="0" err="1">
                <a:latin typeface="Dosis Medium" pitchFamily="2" charset="-94"/>
              </a:rPr>
              <a:t>that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detects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if</a:t>
            </a:r>
            <a:r>
              <a:rPr lang="tr-TR" dirty="0">
                <a:latin typeface="Dosis Medium" pitchFamily="2" charset="-94"/>
              </a:rPr>
              <a:t> a </a:t>
            </a:r>
            <a:r>
              <a:rPr lang="tr-TR" dirty="0" err="1">
                <a:latin typeface="Dosis Medium" pitchFamily="2" charset="-94"/>
              </a:rPr>
              <a:t>given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text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comes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from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real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news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document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or</a:t>
            </a:r>
            <a:r>
              <a:rPr lang="tr-TR" dirty="0">
                <a:latin typeface="Dosis Medium" pitchFamily="2" charset="-94"/>
              </a:rPr>
              <a:t> not.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94393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255A3C-6B78-488B-A6A3-7A5BADB1F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>
                <a:latin typeface="Dosis Medium" pitchFamily="2" charset="-94"/>
              </a:rPr>
              <a:t>Methodology</a:t>
            </a:r>
            <a:endParaRPr lang="tr-TR" dirty="0">
              <a:latin typeface="Dosis Medium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C4E96F8-D1D6-4565-9BFB-DCCC16FC6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502070"/>
            <a:ext cx="10515600" cy="4351336"/>
          </a:xfrm>
        </p:spPr>
        <p:txBody>
          <a:bodyPr/>
          <a:lstStyle/>
          <a:p>
            <a:r>
              <a:rPr lang="tr-TR" dirty="0" err="1">
                <a:latin typeface="Dosis Medium" pitchFamily="2" charset="-94"/>
              </a:rPr>
              <a:t>Wanted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to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classify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news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using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probabilistic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approach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such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Multinomial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Naive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Bayes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algorithm</a:t>
            </a:r>
            <a:r>
              <a:rPr lang="tr-TR" dirty="0">
                <a:latin typeface="Dosis Medium" pitchFamily="2" charset="-94"/>
              </a:rPr>
              <a:t>.</a:t>
            </a:r>
          </a:p>
          <a:p>
            <a:endParaRPr lang="tr-TR" dirty="0">
              <a:latin typeface="Dosis Medium" pitchFamily="2" charset="-94"/>
            </a:endParaRPr>
          </a:p>
          <a:p>
            <a:r>
              <a:rPr lang="tr-TR" dirty="0">
                <a:latin typeface="Dosis Medium" pitchFamily="2" charset="-94"/>
              </a:rPr>
              <a:t>Program </a:t>
            </a:r>
            <a:r>
              <a:rPr lang="tr-TR" dirty="0" err="1">
                <a:latin typeface="Dosis Medium" pitchFamily="2" charset="-94"/>
              </a:rPr>
              <a:t>basically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occurs</a:t>
            </a:r>
            <a:r>
              <a:rPr lang="tr-TR" dirty="0">
                <a:latin typeface="Dosis Medium" pitchFamily="2" charset="-94"/>
              </a:rPr>
              <a:t> as </a:t>
            </a:r>
            <a:r>
              <a:rPr lang="tr-TR" dirty="0" err="1">
                <a:latin typeface="Dosis Medium" pitchFamily="2" charset="-94"/>
              </a:rPr>
              <a:t>two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parts</a:t>
            </a:r>
            <a:r>
              <a:rPr lang="tr-TR" dirty="0">
                <a:latin typeface="Dosis Medium" pitchFamily="2" charset="-94"/>
              </a:rPr>
              <a:t>; </a:t>
            </a:r>
          </a:p>
          <a:p>
            <a:endParaRPr lang="tr-TR" dirty="0">
              <a:latin typeface="Dosis Medium" pitchFamily="2" charset="-94"/>
            </a:endParaRPr>
          </a:p>
          <a:p>
            <a:pPr marL="514350" indent="-514350">
              <a:buFont typeface="+mj-lt"/>
              <a:buAutoNum type="arabicPeriod"/>
            </a:pPr>
            <a:r>
              <a:rPr lang="tr-TR" dirty="0" err="1">
                <a:latin typeface="Dosis Medium" pitchFamily="2" charset="-94"/>
              </a:rPr>
              <a:t>Creating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unique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words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dictionary</a:t>
            </a:r>
            <a:endParaRPr lang="tr-TR" dirty="0">
              <a:latin typeface="Dosis Medium" pitchFamily="2" charset="-94"/>
            </a:endParaRPr>
          </a:p>
          <a:p>
            <a:pPr marL="514350" indent="-514350">
              <a:buFont typeface="+mj-lt"/>
              <a:buAutoNum type="arabicPeriod"/>
            </a:pPr>
            <a:r>
              <a:rPr lang="tr-TR" dirty="0" err="1">
                <a:latin typeface="Dosis Medium" pitchFamily="2" charset="-94"/>
              </a:rPr>
              <a:t>Naive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Bayes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Algorithm</a:t>
            </a:r>
            <a:endParaRPr lang="tr-TR" dirty="0">
              <a:latin typeface="Dosis Medium" pitchFamily="2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07152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593E281-3325-4029-A2E5-E5FC98B0C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3092"/>
            <a:ext cx="10515600" cy="4351336"/>
          </a:xfrm>
        </p:spPr>
        <p:txBody>
          <a:bodyPr/>
          <a:lstStyle/>
          <a:p>
            <a:r>
              <a:rPr lang="tr-TR" dirty="0" err="1"/>
              <a:t>Unique</a:t>
            </a:r>
            <a:r>
              <a:rPr lang="tr-TR" dirty="0"/>
              <a:t> Word </a:t>
            </a:r>
            <a:r>
              <a:rPr lang="tr-TR" dirty="0" err="1"/>
              <a:t>dictionary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</a:t>
            </a:r>
            <a:r>
              <a:rPr lang="tr-TR" dirty="0" err="1"/>
              <a:t>include</a:t>
            </a:r>
            <a:r>
              <a:rPr lang="tr-TR" dirty="0"/>
              <a:t> </a:t>
            </a:r>
            <a:r>
              <a:rPr lang="tr-TR" dirty="0" err="1"/>
              <a:t>only</a:t>
            </a:r>
            <a:r>
              <a:rPr lang="tr-TR" dirty="0"/>
              <a:t> </a:t>
            </a:r>
            <a:r>
              <a:rPr lang="tr-TR" dirty="0" err="1"/>
              <a:t>unique</a:t>
            </a:r>
            <a:r>
              <a:rPr lang="tr-TR" dirty="0"/>
              <a:t> </a:t>
            </a:r>
            <a:r>
              <a:rPr lang="tr-TR" dirty="0" err="1"/>
              <a:t>words</a:t>
            </a:r>
            <a:r>
              <a:rPr lang="tr-TR" dirty="0"/>
              <a:t> in it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term</a:t>
            </a:r>
            <a:r>
              <a:rPr lang="tr-TR" dirty="0"/>
              <a:t> </a:t>
            </a:r>
            <a:r>
              <a:rPr lang="tr-TR" dirty="0" err="1"/>
              <a:t>frequency</a:t>
            </a:r>
            <a:r>
              <a:rPr lang="tr-TR" dirty="0"/>
              <a:t> in </a:t>
            </a:r>
            <a:r>
              <a:rPr lang="tr-TR" dirty="0" err="1"/>
              <a:t>fake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 </a:t>
            </a:r>
            <a:r>
              <a:rPr lang="tr-TR" dirty="0" err="1"/>
              <a:t>news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tr-TR" dirty="0"/>
              <a:t>,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probability</a:t>
            </a:r>
            <a:r>
              <a:rPr lang="tr-TR" dirty="0"/>
              <a:t> of </a:t>
            </a:r>
            <a:r>
              <a:rPr lang="tr-TR" dirty="0" err="1"/>
              <a:t>existing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example</a:t>
            </a:r>
            <a:r>
              <a:rPr lang="tr-TR" dirty="0"/>
              <a:t>: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key_word</a:t>
            </a:r>
            <a:r>
              <a:rPr lang="tr-TR" dirty="0"/>
              <a:t> ={[TF in </a:t>
            </a:r>
            <a:r>
              <a:rPr lang="tr-TR" dirty="0" err="1"/>
              <a:t>fake</a:t>
            </a:r>
            <a:r>
              <a:rPr lang="tr-TR" dirty="0"/>
              <a:t>, TF in </a:t>
            </a:r>
            <a:r>
              <a:rPr lang="tr-TR" dirty="0" err="1"/>
              <a:t>real</a:t>
            </a:r>
            <a:r>
              <a:rPr lang="tr-TR" dirty="0"/>
              <a:t>, </a:t>
            </a:r>
            <a:r>
              <a:rPr lang="tr-TR" dirty="0" err="1"/>
              <a:t>Prob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fake</a:t>
            </a:r>
            <a:r>
              <a:rPr lang="tr-TR" dirty="0"/>
              <a:t>, </a:t>
            </a:r>
            <a:r>
              <a:rPr lang="tr-TR" dirty="0" err="1"/>
              <a:t>Prob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]}</a:t>
            </a:r>
          </a:p>
          <a:p>
            <a:pPr marL="0" indent="0">
              <a:buNone/>
            </a:pPr>
            <a:r>
              <a:rPr lang="tr-TR" dirty="0"/>
              <a:t> 	</a:t>
            </a:r>
            <a:r>
              <a:rPr lang="tr-TR" dirty="0" err="1"/>
              <a:t>memorise</a:t>
            </a:r>
            <a:r>
              <a:rPr lang="tr-TR" dirty="0"/>
              <a:t> = {[984, 2067, 0.0007, 0.0015]}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76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B69773EA-8A9C-4A5D-A902-C22EB51A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534" y="86576"/>
            <a:ext cx="7662057" cy="677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666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4FF002C-D9F7-42BD-AC5A-9548E9569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5301"/>
            <a:ext cx="10515600" cy="4351336"/>
          </a:xfrm>
        </p:spPr>
        <p:txBody>
          <a:bodyPr/>
          <a:lstStyle/>
          <a:p>
            <a:r>
              <a:rPr lang="tr-TR" dirty="0" err="1">
                <a:latin typeface="Dosis Medium" pitchFamily="2" charset="-94"/>
              </a:rPr>
              <a:t>Then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each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objects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occurence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probabilities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calculated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with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using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their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term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frequencies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calculated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before</a:t>
            </a:r>
            <a:r>
              <a:rPr lang="tr-TR" dirty="0">
                <a:latin typeface="Dosis Medium" pitchFamily="2" charset="-94"/>
              </a:rPr>
              <a:t>.</a:t>
            </a:r>
          </a:p>
        </p:txBody>
      </p:sp>
      <p:pic>
        <p:nvPicPr>
          <p:cNvPr id="5" name="Resim 4" descr="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7CE5C47B-A45C-4ECD-BC36-04858CF1F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178" y="1511447"/>
            <a:ext cx="8373644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26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>
            <a:extLst>
              <a:ext uri="{FF2B5EF4-FFF2-40B4-BE49-F238E27FC236}">
                <a16:creationId xmlns:a16="http://schemas.microsoft.com/office/drawing/2014/main" id="{8CADD067-5295-4A7F-8E1C-46EEE89E5A3F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Başlık 1">
            <a:extLst>
              <a:ext uri="{FF2B5EF4-FFF2-40B4-BE49-F238E27FC236}">
                <a16:creationId xmlns:a16="http://schemas.microsoft.com/office/drawing/2014/main" id="{16DEDE61-B991-4440-BEE9-3AB1FD3124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63" y="321731"/>
            <a:ext cx="10905070" cy="1135739"/>
          </a:xfrm>
        </p:spPr>
        <p:txBody>
          <a:bodyPr/>
          <a:lstStyle/>
          <a:p>
            <a:pPr lvl="0"/>
            <a:r>
              <a:rPr lang="tr-TR" sz="3600" dirty="0">
                <a:cs typeface="Calibri Light"/>
              </a:rPr>
              <a:t>    </a:t>
            </a:r>
            <a:r>
              <a:rPr lang="tr-TR" sz="3600" dirty="0" err="1">
                <a:latin typeface="Dosis Medium" pitchFamily="2" charset="-94"/>
                <a:cs typeface="Calibri Light"/>
              </a:rPr>
              <a:t>Bayes</a:t>
            </a:r>
            <a:r>
              <a:rPr lang="tr-TR" sz="3600" dirty="0">
                <a:latin typeface="Dosis Medium" pitchFamily="2" charset="-94"/>
                <a:cs typeface="Calibri Light"/>
              </a:rPr>
              <a:t> </a:t>
            </a:r>
            <a:r>
              <a:rPr lang="tr-TR" sz="3600" dirty="0" err="1">
                <a:latin typeface="Dosis Medium" pitchFamily="2" charset="-94"/>
                <a:cs typeface="Calibri Light"/>
              </a:rPr>
              <a:t>Theorem</a:t>
            </a:r>
            <a:endParaRPr lang="tr-TR" sz="3600" dirty="0">
              <a:latin typeface="Dosis Medium" pitchFamily="2" charset="-94"/>
              <a:cs typeface="Calibri Light"/>
            </a:endParaRPr>
          </a:p>
        </p:txBody>
      </p:sp>
      <p:pic>
        <p:nvPicPr>
          <p:cNvPr id="4" name="Resim 4" descr="tablo, çizim içeren bir resim&#10;&#10;Çok yüksek güvenilirlikle oluşturulmuş açıklama">
            <a:extLst>
              <a:ext uri="{FF2B5EF4-FFF2-40B4-BE49-F238E27FC236}">
                <a16:creationId xmlns:a16="http://schemas.microsoft.com/office/drawing/2014/main" id="{904B6B97-4B8B-4298-984D-C6411BAA4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9895" y="375854"/>
            <a:ext cx="5820503" cy="1024301"/>
          </a:xfrm>
        </p:spPr>
      </p:pic>
      <p:sp>
        <p:nvSpPr>
          <p:cNvPr id="5" name="Rectangle 29">
            <a:extLst>
              <a:ext uri="{FF2B5EF4-FFF2-40B4-BE49-F238E27FC236}">
                <a16:creationId xmlns:a16="http://schemas.microsoft.com/office/drawing/2014/main" id="{CCBB01EB-75EC-49CE-A116-289AD2D79F18}"/>
              </a:ext>
            </a:extLst>
          </p:cNvPr>
          <p:cNvSpPr>
            <a:spLocks noMove="1" noResize="1"/>
          </p:cNvSpPr>
          <p:nvPr/>
        </p:nvSpPr>
        <p:spPr>
          <a:xfrm rot="2700006">
            <a:off x="11052627" y="2120027"/>
            <a:ext cx="645365" cy="645365"/>
          </a:xfrm>
          <a:prstGeom prst="rect">
            <a:avLst/>
          </a:prstGeom>
          <a:solidFill>
            <a:srgbClr val="FFC000">
              <a:alpha val="3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Isosceles Triangle 31">
            <a:extLst>
              <a:ext uri="{FF2B5EF4-FFF2-40B4-BE49-F238E27FC236}">
                <a16:creationId xmlns:a16="http://schemas.microsoft.com/office/drawing/2014/main" id="{6F7DC2B0-1D32-4B19-A5B5-61B3A36AA138}"/>
              </a:ext>
            </a:extLst>
          </p:cNvPr>
          <p:cNvSpPr>
            <a:spLocks noMove="1" noResize="1"/>
          </p:cNvSpPr>
          <p:nvPr/>
        </p:nvSpPr>
        <p:spPr>
          <a:xfrm rot="16200004">
            <a:off x="10289067" y="1343024"/>
            <a:ext cx="2532833" cy="1273027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FFC000">
              <a:alpha val="3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" name="Isosceles Triangle 33">
            <a:extLst>
              <a:ext uri="{FF2B5EF4-FFF2-40B4-BE49-F238E27FC236}">
                <a16:creationId xmlns:a16="http://schemas.microsoft.com/office/drawing/2014/main" id="{831B0E65-EDB2-4FFB-BF0D-395737487F73}"/>
              </a:ext>
            </a:extLst>
          </p:cNvPr>
          <p:cNvSpPr>
            <a:spLocks noMove="1" noResize="1"/>
          </p:cNvSpPr>
          <p:nvPr/>
        </p:nvSpPr>
        <p:spPr>
          <a:xfrm rot="5400013">
            <a:off x="-501768" y="5103248"/>
            <a:ext cx="2017577" cy="1014060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4472C4">
              <a:alpha val="3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8" name="Rectangle 35">
            <a:extLst>
              <a:ext uri="{FF2B5EF4-FFF2-40B4-BE49-F238E27FC236}">
                <a16:creationId xmlns:a16="http://schemas.microsoft.com/office/drawing/2014/main" id="{354123FC-CDD1-40DA-9808-8E2446E862AF}"/>
              </a:ext>
            </a:extLst>
          </p:cNvPr>
          <p:cNvSpPr>
            <a:spLocks noMove="1" noResize="1"/>
          </p:cNvSpPr>
          <p:nvPr/>
        </p:nvSpPr>
        <p:spPr>
          <a:xfrm rot="2700006">
            <a:off x="427917" y="5728705"/>
            <a:ext cx="485573" cy="485573"/>
          </a:xfrm>
          <a:prstGeom prst="rect">
            <a:avLst/>
          </a:prstGeom>
          <a:solidFill>
            <a:srgbClr val="4472C4">
              <a:alpha val="3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FDD4E73A-D5C8-4C0D-87C2-6328D1EA4D25}"/>
              </a:ext>
            </a:extLst>
          </p:cNvPr>
          <p:cNvSpPr txBox="1"/>
          <p:nvPr/>
        </p:nvSpPr>
        <p:spPr>
          <a:xfrm>
            <a:off x="709245" y="1451710"/>
            <a:ext cx="8663354" cy="31393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tr-T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tr-TR" sz="1800" b="0" i="0" u="none" strike="noStrike" kern="1200" cap="none" spc="0" baseline="0" dirty="0">
              <a:solidFill>
                <a:srgbClr val="000000"/>
              </a:solidFill>
              <a:uFillTx/>
              <a:latin typeface="Dosis Medium" pitchFamily="2" charset="-94"/>
              <a:ea typeface="Calibri"/>
              <a:cs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Bayes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theorem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helps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 us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to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 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find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the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probability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 of </a:t>
            </a:r>
            <a:r>
              <a:rPr lang="tr-TR" sz="2400" b="1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A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,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given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that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 </a:t>
            </a:r>
            <a:r>
              <a:rPr lang="tr-TR" sz="2400" b="1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B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. Here, </a:t>
            </a:r>
            <a:r>
              <a:rPr lang="tr-TR" sz="2400" b="1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B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 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named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 as an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evidence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and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 </a:t>
            </a:r>
            <a:r>
              <a:rPr lang="tr-TR" sz="2400" b="1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A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 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named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 as a 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hypothesis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.</a:t>
            </a:r>
            <a:endParaRPr lang="tr-TR" sz="2400" b="0" i="0" u="none" strike="noStrike" kern="1200" cap="none" spc="0" baseline="0" dirty="0">
              <a:solidFill>
                <a:srgbClr val="000000"/>
              </a:solidFill>
              <a:uFillTx/>
              <a:latin typeface="Dosis Medium" pitchFamily="2" charset="-94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tr-TR" sz="2400" b="0" i="0" u="none" strike="noStrike" kern="1200" cap="none" spc="0" baseline="0" dirty="0">
              <a:solidFill>
                <a:srgbClr val="000000"/>
              </a:solidFill>
              <a:uFillTx/>
              <a:latin typeface="Dosis Medium" pitchFamily="2" charset="-94"/>
              <a:cs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In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our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case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as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naive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bayes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approach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,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evidence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part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is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always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features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tr-TR" sz="2400" b="0" i="0" u="none" strike="noStrike" kern="1200" cap="none" spc="0" baseline="0" dirty="0">
              <a:solidFill>
                <a:srgbClr val="000000"/>
              </a:solidFill>
              <a:uFillTx/>
              <a:latin typeface="Dosis Medium" pitchFamily="2" charset="-94"/>
              <a:cs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If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features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are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independent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our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algorithm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named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as </a:t>
            </a:r>
            <a:r>
              <a:rPr lang="tr-TR" sz="2400" b="0" i="0" u="none" strike="noStrike" kern="1200" cap="none" spc="0" baseline="0" dirty="0" err="1">
                <a:solidFill>
                  <a:srgbClr val="C00000"/>
                </a:solidFill>
                <a:uFillTx/>
                <a:latin typeface="Dosis Medium" pitchFamily="2" charset="-94"/>
                <a:cs typeface="Calibri"/>
              </a:rPr>
              <a:t>Naive</a:t>
            </a:r>
            <a:r>
              <a:rPr lang="tr-TR" sz="2400" b="0" i="0" u="none" strike="noStrike" kern="1200" cap="none" spc="0" baseline="0" dirty="0">
                <a:solidFill>
                  <a:srgbClr val="C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400" b="0" i="0" u="none" strike="noStrike" kern="1200" cap="none" spc="0" baseline="0" dirty="0" err="1">
                <a:solidFill>
                  <a:srgbClr val="C00000"/>
                </a:solidFill>
                <a:uFillTx/>
                <a:latin typeface="Dosis Medium" pitchFamily="2" charset="-94"/>
                <a:cs typeface="Calibri"/>
              </a:rPr>
              <a:t>Bayes</a:t>
            </a:r>
            <a:r>
              <a:rPr lang="tr-TR" sz="24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ea typeface="Calibri"/>
                <a:cs typeface="Calibri"/>
              </a:rPr>
              <a:t>.</a:t>
            </a:r>
            <a:endParaRPr lang="tr-TR" sz="2400" b="0" i="0" u="none" strike="noStrike" kern="1200" cap="none" spc="0" baseline="0" dirty="0">
              <a:solidFill>
                <a:srgbClr val="000000"/>
              </a:solidFill>
              <a:uFillTx/>
              <a:latin typeface="Dosis Medium" pitchFamily="2" charset="-94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tr-T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2">
            <a:extLst>
              <a:ext uri="{FF2B5EF4-FFF2-40B4-BE49-F238E27FC236}">
                <a16:creationId xmlns:a16="http://schemas.microsoft.com/office/drawing/2014/main" id="{FF0BFC0E-A8CA-4546-9A56-A817F73E7E5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tr-TR" dirty="0" err="1">
                <a:latin typeface="Dosis Medium" pitchFamily="2" charset="-94"/>
                <a:cs typeface="Calibri"/>
              </a:rPr>
              <a:t>Above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equation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represents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the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evidence</a:t>
            </a:r>
            <a:r>
              <a:rPr lang="tr-TR" dirty="0">
                <a:latin typeface="Dosis Medium" pitchFamily="2" charset="-94"/>
                <a:cs typeface="Calibri"/>
              </a:rPr>
              <a:t> of </a:t>
            </a:r>
            <a:r>
              <a:rPr lang="tr-TR" dirty="0" err="1">
                <a:latin typeface="Dosis Medium" pitchFamily="2" charset="-94"/>
                <a:cs typeface="Calibri"/>
              </a:rPr>
              <a:t>our</a:t>
            </a:r>
            <a:r>
              <a:rPr lang="tr-TR" dirty="0">
                <a:latin typeface="Dosis Medium" pitchFamily="2" charset="-94"/>
                <a:cs typeface="Calibri"/>
              </a:rPr>
              <a:t> </a:t>
            </a:r>
            <a:r>
              <a:rPr lang="tr-TR" dirty="0" err="1">
                <a:latin typeface="Dosis Medium" pitchFamily="2" charset="-94"/>
                <a:cs typeface="Calibri"/>
              </a:rPr>
              <a:t>algorithm</a:t>
            </a:r>
            <a:r>
              <a:rPr lang="tr-TR" dirty="0">
                <a:latin typeface="Dosis Medium" pitchFamily="2" charset="-94"/>
                <a:cs typeface="Calibri"/>
              </a:rPr>
              <a:t>. </a:t>
            </a:r>
            <a:r>
              <a:rPr lang="tr-TR" dirty="0" err="1">
                <a:latin typeface="Dosis Medium" pitchFamily="2" charset="-94"/>
                <a:cs typeface="Calibri"/>
              </a:rPr>
              <a:t>These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all</a:t>
            </a:r>
            <a:r>
              <a:rPr lang="tr-TR" dirty="0">
                <a:latin typeface="Dosis Medium" pitchFamily="2" charset="-94"/>
                <a:cs typeface="Calibri"/>
              </a:rPr>
              <a:t> x </a:t>
            </a:r>
            <a:r>
              <a:rPr lang="tr-TR" dirty="0" err="1">
                <a:latin typeface="Dosis Medium" pitchFamily="2" charset="-94"/>
                <a:cs typeface="Calibri"/>
              </a:rPr>
              <a:t>values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represent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different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features</a:t>
            </a:r>
            <a:r>
              <a:rPr lang="tr-TR" dirty="0">
                <a:latin typeface="Dosis Medium" pitchFamily="2" charset="-94"/>
                <a:cs typeface="Calibri"/>
              </a:rPr>
              <a:t> of </a:t>
            </a:r>
            <a:r>
              <a:rPr lang="tr-TR" dirty="0" err="1">
                <a:latin typeface="Dosis Medium" pitchFamily="2" charset="-94"/>
                <a:cs typeface="Calibri"/>
              </a:rPr>
              <a:t>our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training</a:t>
            </a:r>
            <a:r>
              <a:rPr lang="tr-TR" dirty="0">
                <a:latin typeface="Dosis Medium" pitchFamily="2" charset="-94"/>
                <a:cs typeface="Calibri"/>
              </a:rPr>
              <a:t> set. </a:t>
            </a:r>
            <a:r>
              <a:rPr lang="tr-TR" dirty="0" err="1">
                <a:latin typeface="Dosis Medium" pitchFamily="2" charset="-94"/>
                <a:cs typeface="Calibri"/>
              </a:rPr>
              <a:t>So</a:t>
            </a:r>
            <a:r>
              <a:rPr lang="tr-TR" dirty="0">
                <a:latin typeface="Dosis Medium" pitchFamily="2" charset="-94"/>
                <a:cs typeface="Calibri"/>
              </a:rPr>
              <a:t>, </a:t>
            </a:r>
            <a:r>
              <a:rPr lang="tr-TR" dirty="0" err="1">
                <a:latin typeface="Dosis Medium" pitchFamily="2" charset="-94"/>
                <a:cs typeface="Calibri"/>
              </a:rPr>
              <a:t>if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evidence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have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many</a:t>
            </a:r>
            <a:r>
              <a:rPr lang="tr-TR" dirty="0">
                <a:latin typeface="Dosis Medium" pitchFamily="2" charset="-94"/>
                <a:cs typeface="Calibri"/>
              </a:rPr>
              <a:t> </a:t>
            </a:r>
            <a:r>
              <a:rPr lang="tr-TR" dirty="0" err="1">
                <a:latin typeface="Dosis Medium" pitchFamily="2" charset="-94"/>
                <a:cs typeface="Calibri"/>
              </a:rPr>
              <a:t>features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given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we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need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to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find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probabilities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with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latin typeface="Dosis Medium" pitchFamily="2" charset="-94"/>
                <a:cs typeface="Calibri"/>
              </a:rPr>
              <a:t>using</a:t>
            </a:r>
            <a:r>
              <a:rPr lang="tr-TR" dirty="0"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solidFill>
                  <a:srgbClr val="FF0000"/>
                </a:solidFill>
                <a:latin typeface="Dosis Medium" pitchFamily="2" charset="-94"/>
                <a:cs typeface="Calibri"/>
              </a:rPr>
              <a:t>chain</a:t>
            </a:r>
            <a:r>
              <a:rPr lang="tr-TR" dirty="0">
                <a:solidFill>
                  <a:srgbClr val="FF0000"/>
                </a:solidFill>
                <a:latin typeface="Dosis Medium" pitchFamily="2" charset="-94"/>
                <a:cs typeface="Calibri"/>
              </a:rPr>
              <a:t> </a:t>
            </a:r>
            <a:r>
              <a:rPr lang="tr-TR" dirty="0" err="1">
                <a:solidFill>
                  <a:srgbClr val="FF0000"/>
                </a:solidFill>
                <a:latin typeface="Dosis Medium" pitchFamily="2" charset="-94"/>
                <a:cs typeface="Calibri"/>
              </a:rPr>
              <a:t>rule</a:t>
            </a:r>
            <a:r>
              <a:rPr lang="tr-TR" dirty="0">
                <a:latin typeface="Dosis Medium" pitchFamily="2" charset="-94"/>
                <a:cs typeface="Calibri"/>
              </a:rPr>
              <a:t> as </a:t>
            </a:r>
            <a:r>
              <a:rPr lang="tr-TR" dirty="0" err="1">
                <a:latin typeface="Dosis Medium" pitchFamily="2" charset="-94"/>
                <a:cs typeface="Calibri"/>
              </a:rPr>
              <a:t>below</a:t>
            </a:r>
            <a:r>
              <a:rPr lang="tr-TR" dirty="0">
                <a:cs typeface="Calibri"/>
              </a:rPr>
              <a:t>.</a:t>
            </a:r>
          </a:p>
          <a:p>
            <a:pPr marL="0" lvl="0" indent="0">
              <a:buNone/>
            </a:pPr>
            <a:endParaRPr lang="tr-TR" dirty="0">
              <a:cs typeface="Calibri"/>
            </a:endParaRPr>
          </a:p>
        </p:txBody>
      </p:sp>
      <p:pic>
        <p:nvPicPr>
          <p:cNvPr id="3" name="Resim 6" descr="çizim içeren bir resim&#10;&#10;Çok yüksek güvenilirlikle oluşturulmuş açıklama">
            <a:extLst>
              <a:ext uri="{FF2B5EF4-FFF2-40B4-BE49-F238E27FC236}">
                <a16:creationId xmlns:a16="http://schemas.microsoft.com/office/drawing/2014/main" id="{92DEADEF-6AA2-4E60-AA3B-2D56E3193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325" y="644121"/>
            <a:ext cx="5087813" cy="5092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Resim 8" descr="tablo içeren bir resim&#10;&#10;Çok yüksek güvenilirlikle oluşturulmuş açıklama">
            <a:extLst>
              <a:ext uri="{FF2B5EF4-FFF2-40B4-BE49-F238E27FC236}">
                <a16:creationId xmlns:a16="http://schemas.microsoft.com/office/drawing/2014/main" id="{79613DCF-7E98-4C21-A6B5-48A7B77820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20" b="4211"/>
          <a:stretch>
            <a:fillRect/>
          </a:stretch>
        </p:blipFill>
        <p:spPr>
          <a:xfrm>
            <a:off x="836246" y="4072262"/>
            <a:ext cx="10636758" cy="88252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56826A-36FE-40D8-A0C3-64A702E71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486" y="952899"/>
            <a:ext cx="11319028" cy="43513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dirty="0" err="1">
                <a:latin typeface="Dosis Medium" pitchFamily="2" charset="-94"/>
              </a:rPr>
              <a:t>Let</a:t>
            </a:r>
            <a:r>
              <a:rPr lang="tr-TR" dirty="0">
                <a:latin typeface="Dosis Medium" pitchFamily="2" charset="-94"/>
              </a:rPr>
              <a:t> say </a:t>
            </a:r>
            <a:r>
              <a:rPr lang="tr-TR" dirty="0" err="1">
                <a:latin typeface="Dosis Medium" pitchFamily="2" charset="-94"/>
              </a:rPr>
              <a:t>our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text</a:t>
            </a:r>
            <a:r>
              <a:rPr lang="tr-TR" dirty="0">
                <a:latin typeface="Dosis Medium" pitchFamily="2" charset="-94"/>
              </a:rPr>
              <a:t> is:</a:t>
            </a:r>
          </a:p>
          <a:p>
            <a:pPr marL="0" indent="0">
              <a:buNone/>
            </a:pPr>
            <a:r>
              <a:rPr lang="tr-TR" dirty="0">
                <a:latin typeface="Dosis Medium" pitchFamily="2" charset="-94"/>
              </a:rPr>
              <a:t>T1 = Donald </a:t>
            </a:r>
            <a:r>
              <a:rPr lang="tr-TR" dirty="0" err="1">
                <a:latin typeface="Dosis Medium" pitchFamily="2" charset="-94"/>
              </a:rPr>
              <a:t>Trump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ride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donkey</a:t>
            </a:r>
            <a:r>
              <a:rPr lang="tr-TR" dirty="0">
                <a:latin typeface="Dosis Medium" pitchFamily="2" charset="-94"/>
              </a:rPr>
              <a:t>.</a:t>
            </a:r>
          </a:p>
          <a:p>
            <a:pPr marL="0" indent="0">
              <a:buNone/>
            </a:pPr>
            <a:r>
              <a:rPr lang="tr-TR" dirty="0">
                <a:latin typeface="Dosis Medium" pitchFamily="2" charset="-94"/>
              </a:rPr>
              <a:t>«Donald» 	«</a:t>
            </a:r>
            <a:r>
              <a:rPr lang="tr-TR" dirty="0" err="1">
                <a:latin typeface="Dosis Medium" pitchFamily="2" charset="-94"/>
              </a:rPr>
              <a:t>Trump</a:t>
            </a:r>
            <a:r>
              <a:rPr lang="tr-TR" dirty="0">
                <a:latin typeface="Dosis Medium" pitchFamily="2" charset="-94"/>
              </a:rPr>
              <a:t>» 	«</a:t>
            </a:r>
            <a:r>
              <a:rPr lang="tr-TR" dirty="0" err="1">
                <a:latin typeface="Dosis Medium" pitchFamily="2" charset="-94"/>
              </a:rPr>
              <a:t>ride</a:t>
            </a:r>
            <a:r>
              <a:rPr lang="tr-TR" dirty="0">
                <a:latin typeface="Dosis Medium" pitchFamily="2" charset="-94"/>
              </a:rPr>
              <a:t>»        «</a:t>
            </a:r>
            <a:r>
              <a:rPr lang="tr-TR" dirty="0" err="1">
                <a:latin typeface="Dosis Medium" pitchFamily="2" charset="-94"/>
              </a:rPr>
              <a:t>donkey</a:t>
            </a:r>
            <a:r>
              <a:rPr lang="tr-TR" dirty="0">
                <a:latin typeface="Dosis Medium" pitchFamily="2" charset="-94"/>
              </a:rPr>
              <a:t>»</a:t>
            </a:r>
          </a:p>
          <a:p>
            <a:pPr marL="0" indent="0">
              <a:buNone/>
            </a:pPr>
            <a:r>
              <a:rPr lang="tr-TR" dirty="0">
                <a:latin typeface="Dosis Medium" pitchFamily="2" charset="-94"/>
              </a:rPr>
              <a:t> «</a:t>
            </a:r>
            <a:r>
              <a:rPr lang="tr-TR" dirty="0">
                <a:solidFill>
                  <a:schemeClr val="tx2">
                    <a:lumMod val="60000"/>
                    <a:lumOff val="40000"/>
                  </a:schemeClr>
                </a:solidFill>
                <a:latin typeface="Dosis Medium" pitchFamily="2" charset="-94"/>
              </a:rPr>
              <a:t>0.003</a:t>
            </a:r>
            <a:r>
              <a:rPr lang="tr-TR" dirty="0">
                <a:latin typeface="Dosis Medium" pitchFamily="2" charset="-94"/>
              </a:rPr>
              <a:t>» 	 «</a:t>
            </a:r>
            <a:r>
              <a:rPr lang="tr-TR" dirty="0">
                <a:solidFill>
                  <a:schemeClr val="tx2">
                    <a:lumMod val="60000"/>
                    <a:lumOff val="40000"/>
                  </a:schemeClr>
                </a:solidFill>
                <a:latin typeface="Dosis Medium" pitchFamily="2" charset="-94"/>
              </a:rPr>
              <a:t>0.003</a:t>
            </a:r>
            <a:r>
              <a:rPr lang="tr-TR" dirty="0">
                <a:latin typeface="Dosis Medium" pitchFamily="2" charset="-94"/>
              </a:rPr>
              <a:t>»      «</a:t>
            </a:r>
            <a:r>
              <a:rPr lang="tr-TR" dirty="0">
                <a:solidFill>
                  <a:schemeClr val="accent2">
                    <a:lumMod val="60000"/>
                    <a:lumOff val="40000"/>
                  </a:schemeClr>
                </a:solidFill>
                <a:latin typeface="Dosis Medium" pitchFamily="2" charset="-94"/>
              </a:rPr>
              <a:t>0.0001</a:t>
            </a:r>
            <a:r>
              <a:rPr lang="tr-TR" dirty="0">
                <a:latin typeface="Dosis Medium" pitchFamily="2" charset="-94"/>
              </a:rPr>
              <a:t>»    «</a:t>
            </a:r>
            <a:r>
              <a:rPr lang="tr-TR" dirty="0">
                <a:solidFill>
                  <a:schemeClr val="accent6">
                    <a:lumMod val="60000"/>
                    <a:lumOff val="40000"/>
                  </a:schemeClr>
                </a:solidFill>
                <a:latin typeface="Dosis Medium" pitchFamily="2" charset="-94"/>
              </a:rPr>
              <a:t>0.0006</a:t>
            </a:r>
            <a:r>
              <a:rPr lang="tr-TR" dirty="0">
                <a:latin typeface="Dosis Medium" pitchFamily="2" charset="-94"/>
              </a:rPr>
              <a:t>»          =&gt; </a:t>
            </a:r>
            <a:r>
              <a:rPr lang="tr-TR" dirty="0" err="1">
                <a:latin typeface="Dosis Medium" pitchFamily="2" charset="-94"/>
              </a:rPr>
              <a:t>Prob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for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solidFill>
                  <a:srgbClr val="FF0000"/>
                </a:solidFill>
                <a:latin typeface="Dosis Medium" pitchFamily="2" charset="-94"/>
              </a:rPr>
              <a:t>fake</a:t>
            </a:r>
            <a:endParaRPr lang="tr-TR" dirty="0">
              <a:solidFill>
                <a:srgbClr val="FF0000"/>
              </a:solidFill>
              <a:latin typeface="Dosis Medium" pitchFamily="2" charset="-94"/>
            </a:endParaRPr>
          </a:p>
          <a:p>
            <a:pPr marL="0" indent="0">
              <a:buNone/>
            </a:pPr>
            <a:r>
              <a:rPr lang="tr-TR" dirty="0">
                <a:latin typeface="Dosis Medium" pitchFamily="2" charset="-94"/>
              </a:rPr>
              <a:t> «</a:t>
            </a:r>
            <a:r>
              <a:rPr lang="tr-TR" dirty="0">
                <a:solidFill>
                  <a:schemeClr val="tx2">
                    <a:lumMod val="75000"/>
                  </a:schemeClr>
                </a:solidFill>
                <a:latin typeface="Dosis Medium" pitchFamily="2" charset="-94"/>
              </a:rPr>
              <a:t>0.008</a:t>
            </a:r>
            <a:r>
              <a:rPr lang="tr-TR" dirty="0">
                <a:latin typeface="Dosis Medium" pitchFamily="2" charset="-94"/>
              </a:rPr>
              <a:t>» 	 «</a:t>
            </a:r>
            <a:r>
              <a:rPr lang="tr-TR" dirty="0">
                <a:solidFill>
                  <a:schemeClr val="tx2">
                    <a:lumMod val="75000"/>
                  </a:schemeClr>
                </a:solidFill>
                <a:latin typeface="Dosis Medium" pitchFamily="2" charset="-94"/>
              </a:rPr>
              <a:t>0.008</a:t>
            </a:r>
            <a:r>
              <a:rPr lang="tr-TR" dirty="0">
                <a:latin typeface="Dosis Medium" pitchFamily="2" charset="-94"/>
              </a:rPr>
              <a:t>»      «</a:t>
            </a:r>
            <a:r>
              <a:rPr lang="tr-TR" dirty="0">
                <a:solidFill>
                  <a:schemeClr val="accent2">
                    <a:lumMod val="75000"/>
                  </a:schemeClr>
                </a:solidFill>
                <a:latin typeface="Dosis Medium" pitchFamily="2" charset="-94"/>
              </a:rPr>
              <a:t>0.002</a:t>
            </a:r>
            <a:r>
              <a:rPr lang="tr-TR" dirty="0">
                <a:latin typeface="Dosis Medium" pitchFamily="2" charset="-94"/>
              </a:rPr>
              <a:t>»   «</a:t>
            </a:r>
            <a:r>
              <a:rPr lang="tr-TR" dirty="0">
                <a:solidFill>
                  <a:schemeClr val="accent6">
                    <a:lumMod val="75000"/>
                  </a:schemeClr>
                </a:solidFill>
                <a:latin typeface="Dosis Medium" pitchFamily="2" charset="-94"/>
              </a:rPr>
              <a:t>0.000000001</a:t>
            </a:r>
            <a:r>
              <a:rPr lang="tr-TR" dirty="0">
                <a:latin typeface="Dosis Medium" pitchFamily="2" charset="-94"/>
              </a:rPr>
              <a:t>»  =&gt; </a:t>
            </a:r>
            <a:r>
              <a:rPr lang="tr-TR" dirty="0" err="1">
                <a:latin typeface="Dosis Medium" pitchFamily="2" charset="-94"/>
              </a:rPr>
              <a:t>Prob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for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solidFill>
                  <a:srgbClr val="00B050"/>
                </a:solidFill>
                <a:latin typeface="Dosis Medium" pitchFamily="2" charset="-94"/>
              </a:rPr>
              <a:t>real</a:t>
            </a:r>
            <a:endParaRPr lang="tr-TR" dirty="0">
              <a:solidFill>
                <a:srgbClr val="00B050"/>
              </a:solidFill>
              <a:latin typeface="Dosis Medium" pitchFamily="2" charset="-94"/>
            </a:endParaRPr>
          </a:p>
          <a:p>
            <a:pPr marL="0" indent="0">
              <a:buNone/>
            </a:pPr>
            <a:endParaRPr lang="tr-TR" dirty="0">
              <a:solidFill>
                <a:srgbClr val="00B050"/>
              </a:solidFill>
              <a:latin typeface="Dosis Medium" pitchFamily="2" charset="-94"/>
            </a:endParaRPr>
          </a:p>
          <a:p>
            <a:pPr marL="0" indent="0">
              <a:buNone/>
            </a:pP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P( </a:t>
            </a:r>
            <a:r>
              <a:rPr lang="tr-TR" dirty="0" err="1">
                <a:solidFill>
                  <a:srgbClr val="FF0000"/>
                </a:solidFill>
                <a:latin typeface="Dosis Medium" pitchFamily="2" charset="-94"/>
              </a:rPr>
              <a:t>fake</a:t>
            </a:r>
            <a:r>
              <a:rPr lang="tr-TR" dirty="0">
                <a:solidFill>
                  <a:srgbClr val="FF0000"/>
                </a:solidFill>
                <a:latin typeface="Dosis Medium" pitchFamily="2" charset="-94"/>
              </a:rPr>
              <a:t> 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| T1 ) = P(</a:t>
            </a:r>
            <a:r>
              <a:rPr lang="tr-TR" dirty="0" err="1">
                <a:solidFill>
                  <a:srgbClr val="FF0000"/>
                </a:solidFill>
                <a:latin typeface="Dosis Medium" pitchFamily="2" charset="-94"/>
              </a:rPr>
              <a:t>fake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) * (</a:t>
            </a:r>
            <a:r>
              <a:rPr lang="tr-TR" dirty="0">
                <a:solidFill>
                  <a:schemeClr val="tx2">
                    <a:lumMod val="60000"/>
                    <a:lumOff val="40000"/>
                  </a:schemeClr>
                </a:solidFill>
                <a:latin typeface="Dosis Medium" pitchFamily="2" charset="-94"/>
              </a:rPr>
              <a:t>0.003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) * (</a:t>
            </a:r>
            <a:r>
              <a:rPr lang="tr-TR" dirty="0">
                <a:solidFill>
                  <a:schemeClr val="tx2">
                    <a:lumMod val="60000"/>
                    <a:lumOff val="40000"/>
                  </a:schemeClr>
                </a:solidFill>
                <a:latin typeface="Dosis Medium" pitchFamily="2" charset="-94"/>
              </a:rPr>
              <a:t>0.003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) * (</a:t>
            </a:r>
            <a:r>
              <a:rPr lang="tr-TR" dirty="0">
                <a:solidFill>
                  <a:schemeClr val="accent2">
                    <a:lumMod val="60000"/>
                    <a:lumOff val="40000"/>
                  </a:schemeClr>
                </a:solidFill>
                <a:latin typeface="Dosis Medium" pitchFamily="2" charset="-94"/>
              </a:rPr>
              <a:t>0.0001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) * (</a:t>
            </a:r>
            <a:r>
              <a:rPr lang="tr-TR" dirty="0">
                <a:solidFill>
                  <a:schemeClr val="accent6">
                    <a:lumMod val="60000"/>
                    <a:lumOff val="40000"/>
                  </a:schemeClr>
                </a:solidFill>
                <a:latin typeface="Dosis Medium" pitchFamily="2" charset="-94"/>
              </a:rPr>
              <a:t>0.0006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)         = 5.4e-13</a:t>
            </a:r>
          </a:p>
          <a:p>
            <a:pPr marL="0" indent="0">
              <a:buNone/>
            </a:pP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P( </a:t>
            </a:r>
            <a:r>
              <a:rPr lang="tr-TR" dirty="0" err="1">
                <a:solidFill>
                  <a:srgbClr val="00B050"/>
                </a:solidFill>
                <a:latin typeface="Dosis Medium" pitchFamily="2" charset="-94"/>
              </a:rPr>
              <a:t>real</a:t>
            </a:r>
            <a:r>
              <a:rPr lang="tr-TR" dirty="0">
                <a:solidFill>
                  <a:srgbClr val="00B050"/>
                </a:solidFill>
                <a:latin typeface="Dosis Medium" pitchFamily="2" charset="-94"/>
              </a:rPr>
              <a:t> 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| T1 ) = P(</a:t>
            </a:r>
            <a:r>
              <a:rPr lang="tr-TR" dirty="0" err="1">
                <a:solidFill>
                  <a:srgbClr val="00B050"/>
                </a:solidFill>
                <a:latin typeface="Dosis Medium" pitchFamily="2" charset="-94"/>
              </a:rPr>
              <a:t>real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) * (</a:t>
            </a:r>
            <a:r>
              <a:rPr lang="tr-TR" dirty="0">
                <a:solidFill>
                  <a:schemeClr val="tx2">
                    <a:lumMod val="75000"/>
                  </a:schemeClr>
                </a:solidFill>
                <a:latin typeface="Dosis Medium" pitchFamily="2" charset="-94"/>
              </a:rPr>
              <a:t>0.008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) * (</a:t>
            </a:r>
            <a:r>
              <a:rPr lang="tr-TR" dirty="0">
                <a:solidFill>
                  <a:schemeClr val="tx2">
                    <a:lumMod val="75000"/>
                  </a:schemeClr>
                </a:solidFill>
                <a:latin typeface="Dosis Medium" pitchFamily="2" charset="-94"/>
              </a:rPr>
              <a:t>0.008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) * (</a:t>
            </a:r>
            <a:r>
              <a:rPr lang="tr-TR" dirty="0">
                <a:solidFill>
                  <a:schemeClr val="accent2">
                    <a:lumMod val="75000"/>
                  </a:schemeClr>
                </a:solidFill>
                <a:latin typeface="Dosis Medium" pitchFamily="2" charset="-94"/>
              </a:rPr>
              <a:t>0.002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) * (</a:t>
            </a:r>
            <a:r>
              <a:rPr lang="tr-TR" dirty="0">
                <a:solidFill>
                  <a:schemeClr val="accent6">
                    <a:lumMod val="75000"/>
                  </a:schemeClr>
                </a:solidFill>
                <a:latin typeface="Dosis Medium" pitchFamily="2" charset="-94"/>
              </a:rPr>
              <a:t>0.000000001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) = 1.28e-16</a:t>
            </a:r>
          </a:p>
          <a:p>
            <a:pPr marL="0" indent="0">
              <a:buNone/>
            </a:pPr>
            <a:endParaRPr lang="tr-TR" dirty="0">
              <a:solidFill>
                <a:schemeClr val="tx1"/>
              </a:solidFill>
              <a:latin typeface="Dosis Medium" pitchFamily="2" charset="-94"/>
            </a:endParaRPr>
          </a:p>
          <a:p>
            <a:pPr marL="0" indent="0">
              <a:buNone/>
            </a:pPr>
            <a:r>
              <a:rPr lang="tr-TR" dirty="0" err="1">
                <a:solidFill>
                  <a:schemeClr val="tx1"/>
                </a:solidFill>
                <a:latin typeface="Dosis Medium" pitchFamily="2" charset="-94"/>
              </a:rPr>
              <a:t>Thus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 </a:t>
            </a:r>
            <a:r>
              <a:rPr lang="tr-TR" dirty="0" err="1">
                <a:solidFill>
                  <a:schemeClr val="tx1"/>
                </a:solidFill>
                <a:latin typeface="Dosis Medium" pitchFamily="2" charset="-94"/>
              </a:rPr>
              <a:t>this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 test </a:t>
            </a:r>
            <a:r>
              <a:rPr lang="tr-TR" dirty="0" err="1">
                <a:solidFill>
                  <a:schemeClr val="tx1"/>
                </a:solidFill>
                <a:latin typeface="Dosis Medium" pitchFamily="2" charset="-94"/>
              </a:rPr>
              <a:t>text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 </a:t>
            </a:r>
            <a:r>
              <a:rPr lang="tr-TR" dirty="0" err="1">
                <a:solidFill>
                  <a:schemeClr val="tx1"/>
                </a:solidFill>
                <a:latin typeface="Dosis Medium" pitchFamily="2" charset="-94"/>
              </a:rPr>
              <a:t>will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 </a:t>
            </a:r>
            <a:r>
              <a:rPr lang="tr-TR" dirty="0" err="1">
                <a:solidFill>
                  <a:schemeClr val="tx1"/>
                </a:solidFill>
                <a:latin typeface="Dosis Medium" pitchFamily="2" charset="-94"/>
              </a:rPr>
              <a:t>take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 </a:t>
            </a:r>
            <a:r>
              <a:rPr lang="tr-TR" dirty="0">
                <a:solidFill>
                  <a:schemeClr val="accent4">
                    <a:lumMod val="75000"/>
                  </a:schemeClr>
                </a:solidFill>
                <a:latin typeface="Dosis Medium" pitchFamily="2" charset="-94"/>
              </a:rPr>
              <a:t>«0»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 </a:t>
            </a:r>
            <a:r>
              <a:rPr lang="tr-TR" dirty="0" err="1">
                <a:solidFill>
                  <a:schemeClr val="tx1"/>
                </a:solidFill>
                <a:latin typeface="Dosis Medium" pitchFamily="2" charset="-94"/>
              </a:rPr>
              <a:t>label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 </a:t>
            </a:r>
            <a:r>
              <a:rPr lang="tr-TR" dirty="0" err="1">
                <a:solidFill>
                  <a:schemeClr val="tx1"/>
                </a:solidFill>
                <a:latin typeface="Dosis Medium" pitchFamily="2" charset="-94"/>
              </a:rPr>
              <a:t>because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 </a:t>
            </a:r>
            <a:r>
              <a:rPr lang="tr-TR" dirty="0" err="1">
                <a:solidFill>
                  <a:schemeClr val="tx1"/>
                </a:solidFill>
                <a:latin typeface="Dosis Medium" pitchFamily="2" charset="-94"/>
              </a:rPr>
              <a:t>probability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 of </a:t>
            </a:r>
            <a:r>
              <a:rPr lang="tr-TR" dirty="0" err="1">
                <a:solidFill>
                  <a:schemeClr val="tx1"/>
                </a:solidFill>
                <a:latin typeface="Dosis Medium" pitchFamily="2" charset="-94"/>
              </a:rPr>
              <a:t>being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 </a:t>
            </a:r>
            <a:r>
              <a:rPr lang="tr-TR" dirty="0" err="1">
                <a:solidFill>
                  <a:schemeClr val="tx1"/>
                </a:solidFill>
                <a:latin typeface="Dosis Medium" pitchFamily="2" charset="-94"/>
              </a:rPr>
              <a:t>fake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 is </a:t>
            </a:r>
            <a:r>
              <a:rPr lang="tr-TR" dirty="0" err="1">
                <a:solidFill>
                  <a:schemeClr val="tx1"/>
                </a:solidFill>
                <a:latin typeface="Dosis Medium" pitchFamily="2" charset="-94"/>
              </a:rPr>
              <a:t>higher</a:t>
            </a:r>
            <a:endParaRPr lang="tr-TR" dirty="0">
              <a:solidFill>
                <a:schemeClr val="tx1"/>
              </a:solidFill>
              <a:latin typeface="Dosis Medium" pitchFamily="2" charset="-94"/>
            </a:endParaRPr>
          </a:p>
          <a:p>
            <a:pPr marL="0" indent="0">
              <a:buNone/>
            </a:pPr>
            <a:endParaRPr lang="tr-T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327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8" descr="çizim içeren bir resim&#10;&#10;Çok yüksek güvenilirlikle oluşturulmuş açıklama">
            <a:extLst>
              <a:ext uri="{FF2B5EF4-FFF2-40B4-BE49-F238E27FC236}">
                <a16:creationId xmlns:a16="http://schemas.microsoft.com/office/drawing/2014/main" id="{53CB742F-0566-457A-BE32-765BB81EE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1699" y="885889"/>
            <a:ext cx="7848596" cy="838203"/>
          </a:xfrm>
        </p:spPr>
      </p:pic>
      <p:sp>
        <p:nvSpPr>
          <p:cNvPr id="3" name="Metin kutusu 9">
            <a:extLst>
              <a:ext uri="{FF2B5EF4-FFF2-40B4-BE49-F238E27FC236}">
                <a16:creationId xmlns:a16="http://schemas.microsoft.com/office/drawing/2014/main" id="{4EAF8091-E3D5-42F4-9606-17B5E1C588DE}"/>
              </a:ext>
            </a:extLst>
          </p:cNvPr>
          <p:cNvSpPr txBox="1"/>
          <p:nvPr/>
        </p:nvSpPr>
        <p:spPr>
          <a:xfrm>
            <a:off x="1363781" y="2145319"/>
            <a:ext cx="9513280" cy="18158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We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neglected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 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denominator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 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because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 it has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always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same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value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for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all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entries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. "y"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represents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classes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and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we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need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to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find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the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class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which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gives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the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highest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probability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.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So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,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we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are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going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to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use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C00000"/>
                </a:solidFill>
                <a:uFillTx/>
                <a:latin typeface="Dosis Medium" pitchFamily="2" charset="-94"/>
                <a:cs typeface="Calibri"/>
              </a:rPr>
              <a:t>argmax</a:t>
            </a:r>
            <a:r>
              <a:rPr lang="tr-TR" sz="2800" b="0" i="0" u="none" strike="noStrike" kern="1200" cap="none" spc="0" baseline="0" dirty="0">
                <a:solidFill>
                  <a:srgbClr val="C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function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to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obtain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the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 </a:t>
            </a:r>
            <a:r>
              <a:rPr lang="tr-TR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best</a:t>
            </a:r>
            <a:r>
              <a:rPr lang="tr-TR" sz="2800" b="0" i="0" u="none" strike="noStrike" kern="1200" cap="none" spc="0" baseline="0" dirty="0">
                <a:solidFill>
                  <a:srgbClr val="000000"/>
                </a:solidFill>
                <a:uFillTx/>
                <a:latin typeface="Dosis Medium" pitchFamily="2" charset="-94"/>
                <a:cs typeface="Calibri"/>
              </a:rPr>
              <a:t>. </a:t>
            </a:r>
          </a:p>
        </p:txBody>
      </p:sp>
      <p:pic>
        <p:nvPicPr>
          <p:cNvPr id="4" name="Resim 11" descr="çizim, tablo içeren bir resim&#10;&#10;Çok yüksek güvenilirlikle oluşturulmuş açıklama">
            <a:extLst>
              <a:ext uri="{FF2B5EF4-FFF2-40B4-BE49-F238E27FC236}">
                <a16:creationId xmlns:a16="http://schemas.microsoft.com/office/drawing/2014/main" id="{CBC1C740-A1DE-4A9F-8D74-139724A4B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865" y="4584042"/>
            <a:ext cx="8927122" cy="101144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F6CF98A6-21EE-41C6-A12D-EFB2FBFB2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544" y="139959"/>
            <a:ext cx="9544587" cy="673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21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902B109-4363-4EBC-AF0C-149D7E70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latin typeface="Dosis Medium" pitchFamily="2" charset="-94"/>
              </a:rPr>
              <a:t>Results</a:t>
            </a:r>
            <a:r>
              <a:rPr lang="tr-TR" dirty="0">
                <a:latin typeface="Dosis Medium" pitchFamily="2" charset="-94"/>
              </a:rPr>
              <a:t> of </a:t>
            </a:r>
            <a:r>
              <a:rPr lang="tr-TR" dirty="0" err="1">
                <a:latin typeface="Dosis Medium" pitchFamily="2" charset="-94"/>
              </a:rPr>
              <a:t>my</a:t>
            </a:r>
            <a:r>
              <a:rPr lang="tr-TR" dirty="0">
                <a:latin typeface="Dosis Medium" pitchFamily="2" charset="-94"/>
              </a:rPr>
              <a:t> MNB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5A85C9B-C7E2-4C91-A615-B3408525F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>
                <a:latin typeface="Dosis Medium" pitchFamily="2" charset="-94"/>
              </a:rPr>
              <a:t>Algorithm</a:t>
            </a:r>
            <a:r>
              <a:rPr lang="tr-TR" dirty="0">
                <a:latin typeface="Dosis Medium" pitchFamily="2" charset="-94"/>
              </a:rPr>
              <a:t> Show </a:t>
            </a:r>
            <a:r>
              <a:rPr lang="tr-TR" dirty="0" err="1">
                <a:latin typeface="Dosis Medium" pitchFamily="2" charset="-94"/>
              </a:rPr>
              <a:t>accuracy</a:t>
            </a:r>
            <a:r>
              <a:rPr lang="tr-TR" dirty="0">
                <a:latin typeface="Dosis Medium" pitchFamily="2" charset="-94"/>
              </a:rPr>
              <a:t> in </a:t>
            </a:r>
            <a:r>
              <a:rPr lang="tr-TR" dirty="0" err="1">
                <a:latin typeface="Dosis Medium" pitchFamily="2" charset="-94"/>
              </a:rPr>
              <a:t>train</a:t>
            </a:r>
            <a:r>
              <a:rPr lang="tr-TR" dirty="0">
                <a:latin typeface="Dosis Medium" pitchFamily="2" charset="-94"/>
              </a:rPr>
              <a:t> data </a:t>
            </a:r>
            <a:r>
              <a:rPr lang="tr-TR" dirty="0" err="1">
                <a:latin typeface="Dosis Medium" pitchFamily="2" charset="-94"/>
              </a:rPr>
              <a:t>such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b="1" dirty="0">
                <a:solidFill>
                  <a:srgbClr val="FF0000"/>
                </a:solidFill>
                <a:latin typeface="Dosis Medium" pitchFamily="2" charset="-94"/>
              </a:rPr>
              <a:t>0.938</a:t>
            </a:r>
            <a:r>
              <a:rPr lang="tr-TR" dirty="0">
                <a:latin typeface="Dosis Medium" pitchFamily="2" charset="-94"/>
              </a:rPr>
              <a:t> </a:t>
            </a:r>
          </a:p>
          <a:p>
            <a:r>
              <a:rPr lang="tr-TR" dirty="0" err="1">
                <a:latin typeface="Dosis Medium" pitchFamily="2" charset="-94"/>
              </a:rPr>
              <a:t>Algorithm</a:t>
            </a:r>
            <a:r>
              <a:rPr lang="tr-TR" dirty="0">
                <a:latin typeface="Dosis Medium" pitchFamily="2" charset="-94"/>
              </a:rPr>
              <a:t> Show </a:t>
            </a:r>
            <a:r>
              <a:rPr lang="tr-TR" dirty="0" err="1">
                <a:latin typeface="Dosis Medium" pitchFamily="2" charset="-94"/>
              </a:rPr>
              <a:t>accuracy</a:t>
            </a:r>
            <a:r>
              <a:rPr lang="tr-TR" dirty="0">
                <a:latin typeface="Dosis Medium" pitchFamily="2" charset="-94"/>
              </a:rPr>
              <a:t> in test data </a:t>
            </a:r>
            <a:r>
              <a:rPr lang="tr-TR" dirty="0" err="1">
                <a:latin typeface="Dosis Medium" pitchFamily="2" charset="-94"/>
              </a:rPr>
              <a:t>such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b="1" dirty="0">
                <a:solidFill>
                  <a:srgbClr val="FF0000"/>
                </a:solidFill>
                <a:latin typeface="Dosis Medium" pitchFamily="2" charset="-94"/>
              </a:rPr>
              <a:t>0.596</a:t>
            </a:r>
            <a:endParaRPr lang="tr-TR" dirty="0">
              <a:latin typeface="Dosis Medium" pitchFamily="2" charset="-94"/>
            </a:endParaRPr>
          </a:p>
          <a:p>
            <a:r>
              <a:rPr lang="tr-TR" dirty="0" err="1">
                <a:latin typeface="Dosis Medium" pitchFamily="2" charset="-94"/>
              </a:rPr>
              <a:t>Also</a:t>
            </a:r>
            <a:r>
              <a:rPr lang="tr-TR" dirty="0">
                <a:latin typeface="Dosis Medium" pitchFamily="2" charset="-94"/>
              </a:rPr>
              <a:t>, </a:t>
            </a:r>
            <a:r>
              <a:rPr lang="tr-TR" dirty="0" err="1">
                <a:latin typeface="Dosis Medium" pitchFamily="2" charset="-94"/>
              </a:rPr>
              <a:t>removed</a:t>
            </a:r>
            <a:r>
              <a:rPr lang="tr-TR" dirty="0">
                <a:latin typeface="Dosis Medium" pitchFamily="2" charset="-94"/>
              </a:rPr>
              <a:t> stop </a:t>
            </a:r>
            <a:r>
              <a:rPr lang="tr-TR" dirty="0" err="1">
                <a:latin typeface="Dosis Medium" pitchFamily="2" charset="-94"/>
              </a:rPr>
              <a:t>words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to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see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difference</a:t>
            </a:r>
            <a:r>
              <a:rPr lang="tr-TR" dirty="0">
                <a:latin typeface="Dosis Medium" pitchFamily="2" charset="-94"/>
              </a:rPr>
              <a:t> but </a:t>
            </a:r>
            <a:r>
              <a:rPr lang="tr-TR" dirty="0" err="1">
                <a:latin typeface="Dosis Medium" pitchFamily="2" charset="-94"/>
              </a:rPr>
              <a:t>accuracy</a:t>
            </a:r>
            <a:r>
              <a:rPr lang="tr-TR" dirty="0">
                <a:latin typeface="Dosis Medium" pitchFamily="2" charset="-94"/>
              </a:rPr>
              <a:t> </a:t>
            </a:r>
            <a:r>
              <a:rPr lang="tr-TR" dirty="0" err="1">
                <a:latin typeface="Dosis Medium" pitchFamily="2" charset="-94"/>
              </a:rPr>
              <a:t>dropped</a:t>
            </a:r>
            <a:r>
              <a:rPr lang="tr-TR" dirty="0">
                <a:latin typeface="Dosis Medium" pitchFamily="2" charset="-94"/>
              </a:rPr>
              <a:t> </a:t>
            </a:r>
          </a:p>
          <a:p>
            <a:pPr marL="0" indent="0">
              <a:buNone/>
            </a:pPr>
            <a:r>
              <a:rPr lang="tr-TR" dirty="0">
                <a:latin typeface="Dosis Medium" pitchFamily="2" charset="-94"/>
              </a:rPr>
              <a:t>As </a:t>
            </a:r>
            <a:r>
              <a:rPr lang="tr-TR" b="1" dirty="0">
                <a:solidFill>
                  <a:srgbClr val="FF0000"/>
                </a:solidFill>
                <a:latin typeface="Dosis Medium" pitchFamily="2" charset="-94"/>
              </a:rPr>
              <a:t>0.595. </a:t>
            </a:r>
          </a:p>
          <a:p>
            <a:pPr marL="0" indent="0">
              <a:buNone/>
            </a:pPr>
            <a:endParaRPr lang="tr-TR" b="1" dirty="0">
              <a:solidFill>
                <a:srgbClr val="FF0000"/>
              </a:solidFill>
              <a:latin typeface="Dosis Medium" pitchFamily="2" charset="-94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Dosis Medium" pitchFamily="2" charset="-94"/>
              </a:rPr>
              <a:t>stop_words</a:t>
            </a:r>
            <a:r>
              <a:rPr lang="en-US" dirty="0">
                <a:solidFill>
                  <a:schemeClr val="tx1"/>
                </a:solidFill>
                <a:latin typeface="Dosis Medium" pitchFamily="2" charset="-94"/>
              </a:rPr>
              <a:t> = [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Dosis Medium" pitchFamily="2" charset="-94"/>
              </a:rPr>
              <a:t>    "a", "about", "above", "across", "after", "afterwards", </a:t>
            </a:r>
            <a:r>
              <a:rPr lang="tr-TR" dirty="0">
                <a:solidFill>
                  <a:schemeClr val="tx1"/>
                </a:solidFill>
                <a:latin typeface="Dosis Medium" pitchFamily="2" charset="-94"/>
              </a:rPr>
              <a:t> … ]</a:t>
            </a:r>
          </a:p>
        </p:txBody>
      </p:sp>
    </p:spTree>
    <p:extLst>
      <p:ext uri="{BB962C8B-B14F-4D97-AF65-F5344CB8AC3E}">
        <p14:creationId xmlns:p14="http://schemas.microsoft.com/office/powerpoint/2010/main" val="3743327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FA01F5-C3A9-40F5-B97E-E539017E3CA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>
                <a:solidFill>
                  <a:srgbClr val="4472C4"/>
                </a:solidFill>
                <a:cs typeface="Calibri Light"/>
              </a:rPr>
              <a:t>References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AAB459E-A69F-4E91-95EB-7AB6382AD72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>
                <a:cs typeface="Calibri"/>
                <a:hlinkClick r:id="rId2"/>
              </a:rPr>
              <a:t>https://towardsdatascience.com/naive-bayes-classifier-81d512f50a7c</a:t>
            </a:r>
          </a:p>
          <a:p>
            <a:pPr lvl="0"/>
            <a:r>
              <a:rPr lang="tr-TR">
                <a:cs typeface="Calibri"/>
                <a:hlinkClick r:id="rId3"/>
              </a:rPr>
              <a:t>https://lazyprogrammer.me/bayes-classifier-and-naive-bayes-tutorial-using/</a:t>
            </a:r>
            <a:endParaRPr lang="tr-TR">
              <a:cs typeface="Calibri"/>
            </a:endParaRPr>
          </a:p>
          <a:p>
            <a:pPr lvl="0"/>
            <a:r>
              <a:rPr lang="tr-TR">
                <a:cs typeface="Calibri"/>
                <a:hlinkClick r:id="rId4"/>
              </a:rPr>
              <a:t>https://provalisresearch.com/blog/exploring-naive-bayes-classifier-maybe-not-naive/</a:t>
            </a:r>
            <a:endParaRPr lang="tr-TR"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808DF1-7E4F-40D6-AD73-D9A344A959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70528"/>
            <a:ext cx="10515600" cy="1325559"/>
          </a:xfrm>
        </p:spPr>
        <p:txBody>
          <a:bodyPr/>
          <a:lstStyle/>
          <a:p>
            <a:pPr lvl="0"/>
            <a:r>
              <a:rPr lang="tr-TR" dirty="0">
                <a:cs typeface="Calibri Light"/>
              </a:rPr>
              <a:t>                     </a:t>
            </a:r>
            <a:r>
              <a:rPr lang="tr-TR" sz="5400" dirty="0">
                <a:cs typeface="Calibri Light"/>
              </a:rPr>
              <a:t> </a:t>
            </a:r>
            <a:r>
              <a:rPr lang="tr-TR" sz="5400" dirty="0" err="1">
                <a:latin typeface="Berlin Sans FB Demi" panose="020E0802020502020306" pitchFamily="34" charset="0"/>
                <a:cs typeface="Calibri Light"/>
              </a:rPr>
              <a:t>Thanks</a:t>
            </a:r>
            <a:r>
              <a:rPr lang="tr-TR" sz="5400" dirty="0">
                <a:latin typeface="Berlin Sans FB Demi" panose="020E0802020502020306" pitchFamily="34" charset="0"/>
                <a:cs typeface="Calibri Light"/>
              </a:rPr>
              <a:t> </a:t>
            </a:r>
            <a:r>
              <a:rPr lang="tr-TR" sz="5400" dirty="0" err="1">
                <a:latin typeface="Berlin Sans FB Demi" panose="020E0802020502020306" pitchFamily="34" charset="0"/>
                <a:cs typeface="Calibri Light"/>
              </a:rPr>
              <a:t>For</a:t>
            </a:r>
            <a:r>
              <a:rPr lang="tr-TR" sz="5400" dirty="0">
                <a:latin typeface="Berlin Sans FB Demi" panose="020E0802020502020306" pitchFamily="34" charset="0"/>
                <a:cs typeface="Calibri Light"/>
              </a:rPr>
              <a:t> </a:t>
            </a:r>
            <a:r>
              <a:rPr lang="tr-TR" sz="5400" dirty="0" err="1">
                <a:latin typeface="Berlin Sans FB Demi" panose="020E0802020502020306" pitchFamily="34" charset="0"/>
                <a:cs typeface="Calibri Light"/>
              </a:rPr>
              <a:t>Listening</a:t>
            </a:r>
            <a:endParaRPr lang="tr-TR" sz="5400" dirty="0">
              <a:latin typeface="Berlin Sans FB Demi" panose="020E0802020502020306" pitchFamily="34" charset="0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245</Words>
  <Application>Microsoft Office PowerPoint</Application>
  <PresentationFormat>Geniş ekran</PresentationFormat>
  <Paragraphs>55</Paragraphs>
  <Slides>14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22" baseType="lpstr">
      <vt:lpstr>Arial</vt:lpstr>
      <vt:lpstr>Berlin Sans FB</vt:lpstr>
      <vt:lpstr>Berlin Sans FB Demi</vt:lpstr>
      <vt:lpstr>Bernard MT Condensed</vt:lpstr>
      <vt:lpstr>Calibri</vt:lpstr>
      <vt:lpstr>Calibri Light</vt:lpstr>
      <vt:lpstr>Dosis Medium</vt:lpstr>
      <vt:lpstr>Ofis Teması</vt:lpstr>
      <vt:lpstr>News Detection Fake or Real</vt:lpstr>
      <vt:lpstr>What is the purpose?</vt:lpstr>
      <vt:lpstr>Methodology</vt:lpstr>
      <vt:lpstr>PowerPoint Sunusu</vt:lpstr>
      <vt:lpstr>PowerPoint Sunusu</vt:lpstr>
      <vt:lpstr>PowerPoint Sunusu</vt:lpstr>
      <vt:lpstr>    Bayes Theorem</vt:lpstr>
      <vt:lpstr>PowerPoint Sunusu</vt:lpstr>
      <vt:lpstr>PowerPoint Sunusu</vt:lpstr>
      <vt:lpstr>PowerPoint Sunusu</vt:lpstr>
      <vt:lpstr>PowerPoint Sunusu</vt:lpstr>
      <vt:lpstr>Results of my MNB</vt:lpstr>
      <vt:lpstr>References</vt:lpstr>
      <vt:lpstr>                      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sefa alp</dc:creator>
  <cp:lastModifiedBy>sefa alp</cp:lastModifiedBy>
  <cp:revision>1009</cp:revision>
  <dcterms:created xsi:type="dcterms:W3CDTF">2020-04-07T21:13:08Z</dcterms:created>
  <dcterms:modified xsi:type="dcterms:W3CDTF">2020-05-27T08:51:34Z</dcterms:modified>
</cp:coreProperties>
</file>